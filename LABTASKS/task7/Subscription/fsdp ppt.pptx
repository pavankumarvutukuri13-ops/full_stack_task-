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 id="266" r:id="rId10"/>
    <p:sldId id="269" r:id="rId11"/>
    <p:sldId id="267" r:id="rId12"/>
    <p:sldId id="268"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libri" panose="020F0502020204030204" pitchFamily="34"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2" d="100"/>
          <a:sy n="32" d="100"/>
        </p:scale>
        <p:origin x="19" y="7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1077218"/>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endParaRPr lang="en-IN" sz="3200" b="1" dirty="0">
              <a:solidFill>
                <a:srgbClr val="0033CC"/>
              </a:solidFill>
              <a:latin typeface="Times New Roman" panose="02020603050405020304" pitchFamily="18" charset="0"/>
              <a:cs typeface="Times New Roman" panose="02020603050405020304" pitchFamily="18" charset="0"/>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46933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STUDENT NAME – VTU25488 –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 – 23UECS0616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 Dr. </a:t>
            </a:r>
            <a:r>
              <a:rPr lang="en-US" sz="3000" dirty="0" err="1">
                <a:latin typeface="Cambria" panose="02040503050406030204" pitchFamily="18" charset="0"/>
                <a:ea typeface="Cambria" panose="02040503050406030204" pitchFamily="18" charset="0"/>
              </a:rPr>
              <a:t>Sumithra</a:t>
            </a:r>
            <a:r>
              <a:rPr lang="en-US" sz="3000" dirty="0">
                <a:latin typeface="Cambria" panose="02040503050406030204" pitchFamily="18" charset="0"/>
                <a:ea typeface="Cambria" panose="02040503050406030204" pitchFamily="18" charset="0"/>
              </a:rPr>
              <a:t> M.</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576923"/>
            <a:ext cx="15082325" cy="13942278"/>
          </a:xfrm>
          <a:prstGeom prst="rect">
            <a:avLst/>
          </a:prstGeom>
          <a:noFill/>
        </p:spPr>
        <p:txBody>
          <a:bodyPr wrap="square" rtlCol="0">
            <a:spAutoFit/>
          </a:bodyPr>
          <a:lstStyle/>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Subscription-Based Membership Engine with Tiered Logic</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Modern digital platforms need flexible, automated membership management systems.</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Manual subscription handling leads to billing errors and poor user experience.</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Tiered pricing enables businesses to serve users across different budget levels.</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This system automates plan upgrades, downgrades, renewals, and access control.</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Built using Java Full Stack with Spring Boot backend and React frontend.</a:t>
            </a: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Supports Basic, Standard, and Premium membership tiers with distinct feature sets.</a:t>
            </a: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IN"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452431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In the current digital ecosystem, most subscription platforms lack a fully intelligent and automated system for managing memberships. Organizations often rely on manual processes for billing, plan assignment, and access control, which leads to frequent errors, delayed service delivery, and poor user </a:t>
            </a:r>
            <a:r>
              <a:rPr lang="en-US" sz="3200" dirty="0" err="1">
                <a:latin typeface="Times New Roman" panose="02020603050405020304" pitchFamily="18" charset="0"/>
                <a:cs typeface="Times New Roman" panose="02020603050405020304" pitchFamily="18" charset="0"/>
              </a:rPr>
              <a:t>experience.Additionally</a:t>
            </a:r>
            <a:r>
              <a:rPr lang="en-US" sz="3200" dirty="0">
                <a:latin typeface="Times New Roman" panose="02020603050405020304" pitchFamily="18" charset="0"/>
                <a:cs typeface="Times New Roman" panose="02020603050405020304" pitchFamily="18" charset="0"/>
              </a:rPr>
              <a:t>, existing solutions are unable to implement dynamic tier-based logic, making it difficult to automatically assign features, permissions, or privileges according to a user’s subscription level. Handling plan upgrades, downgrades, renewals, and expirations is often cumbersome and prone to mistakes, resulting in inconsistent service delivery and revenue </a:t>
            </a:r>
            <a:r>
              <a:rPr lang="en-US" sz="3200" dirty="0" err="1">
                <a:latin typeface="Times New Roman" panose="02020603050405020304" pitchFamily="18" charset="0"/>
                <a:cs typeface="Times New Roman" panose="02020603050405020304" pitchFamily="18" charset="0"/>
              </a:rPr>
              <a:t>leakag</a:t>
            </a:r>
            <a:endParaRPr lang="en-US" sz="3200" dirty="0">
              <a:latin typeface="Times New Roman" panose="02020603050405020304" pitchFamily="18" charset="0"/>
              <a:cs typeface="Times New Roman" panose="02020603050405020304" pitchFamily="18" charset="0"/>
            </a:endParaRPr>
          </a:p>
          <a:p>
            <a:pPr marL="457200" indent="-457200" algn="just">
              <a:buFontTx/>
              <a:buChar char="-"/>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40880" y="2968667"/>
            <a:ext cx="15082325" cy="3293209"/>
          </a:xfrm>
          <a:prstGeom prst="rect">
            <a:avLst/>
          </a:prstGeom>
          <a:noFill/>
        </p:spPr>
        <p:txBody>
          <a:bodyPr wrap="square" rtlCol="0">
            <a:spAutoFit/>
          </a:bodyPr>
          <a:lstStyle/>
          <a:p>
            <a:pPr marL="457200" indent="-4572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To design and develop a full-stack Subscription-Based Membership Engine with tiered plan logic using Java Spring Boot and React.</a:t>
            </a:r>
          </a:p>
          <a:p>
            <a:pPr marL="457200" indent="-4572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To implement automated billing, tier-based access control, plan upgrade/downgrade logic, and renewal notifications.</a:t>
            </a:r>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1569660"/>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a:p>
            <a:pPr algn="ct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66A33D5-4B0A-3644-43F0-BFCAA8F3C4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1638301"/>
            <a:ext cx="14630400" cy="830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6986528"/>
          </a:xfrm>
          <a:prstGeom prst="rect">
            <a:avLst/>
          </a:prstGeom>
          <a:noFill/>
        </p:spPr>
        <p:txBody>
          <a:bodyPr wrap="square" rtlCol="0">
            <a:spAutoFit/>
          </a:bodyPr>
          <a:lstStyle/>
          <a:p>
            <a:r>
              <a:rPr lang="en-US" sz="2800" dirty="0"/>
              <a:t>Workflow: User Registration → Plan Selection → Payment Processing → Tier Assignment → Feature Access</a:t>
            </a:r>
          </a:p>
          <a:p>
            <a:pPr marL="457200" indent="-457200">
              <a:buFontTx/>
              <a:buChar char="-"/>
            </a:pPr>
            <a:r>
              <a:rPr lang="en-US" sz="2800" dirty="0"/>
              <a:t>Step 1 – User registers and logs in via the React frontend portal.</a:t>
            </a:r>
          </a:p>
          <a:p>
            <a:pPr marL="457200" indent="-457200">
              <a:buFontTx/>
              <a:buChar char="-"/>
            </a:pPr>
            <a:r>
              <a:rPr lang="en-US" sz="2800" dirty="0"/>
              <a:t>Step 2 – User selects a membership tier (Basic / Standard / Premium).</a:t>
            </a:r>
          </a:p>
          <a:p>
            <a:pPr marL="457200" indent="-457200">
              <a:buFontTx/>
              <a:buChar char="-"/>
            </a:pPr>
            <a:r>
              <a:rPr lang="en-US" sz="2800" dirty="0"/>
              <a:t>Step 3 – Payment is validated; subscription record is created in the database.</a:t>
            </a:r>
          </a:p>
          <a:p>
            <a:pPr marL="457200" indent="-457200">
              <a:buFontTx/>
              <a:buChar char="-"/>
            </a:pPr>
            <a:r>
              <a:rPr lang="en-US" sz="2800" dirty="0"/>
              <a:t>Step 4 – Tiered logic engine assigns access rights and feature permissions automatically.</a:t>
            </a:r>
          </a:p>
          <a:p>
            <a:pPr marL="457200" indent="-457200">
              <a:buFontTx/>
              <a:buChar char="-"/>
            </a:pPr>
            <a:r>
              <a:rPr lang="en-US" sz="2800" dirty="0"/>
              <a:t>Step 5 – On expiry, system triggers renewal notifications and downgrades access if unpaid.</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5" name="Picture 34">
            <a:extLst>
              <a:ext uri="{FF2B5EF4-FFF2-40B4-BE49-F238E27FC236}">
                <a16:creationId xmlns:a16="http://schemas.microsoft.com/office/drawing/2014/main" id="{D2817812-E9C3-4500-98E2-4E7A0974C8F1}"/>
              </a:ext>
            </a:extLst>
          </p:cNvPr>
          <p:cNvPicPr>
            <a:picLocks noChangeAspect="1"/>
          </p:cNvPicPr>
          <p:nvPr/>
        </p:nvPicPr>
        <p:blipFill>
          <a:blip r:embed="rId4"/>
          <a:stretch>
            <a:fillRect/>
          </a:stretch>
        </p:blipFill>
        <p:spPr>
          <a:xfrm>
            <a:off x="4542264" y="4547302"/>
            <a:ext cx="7802135" cy="60825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5509200"/>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Technologies Used:</a:t>
            </a:r>
          </a:p>
          <a:p>
            <a:r>
              <a:rPr lang="en-IN" sz="3200" dirty="0">
                <a:latin typeface="Times New Roman" panose="02020603050405020304" pitchFamily="18" charset="0"/>
                <a:cs typeface="Times New Roman" panose="02020603050405020304" pitchFamily="18" charset="0"/>
              </a:rPr>
              <a:t>Frontend</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HTML, CSS, JavaScript.</a:t>
            </a:r>
          </a:p>
          <a:p>
            <a:r>
              <a:rPr lang="en-IN" sz="3200" dirty="0">
                <a:latin typeface="Times New Roman" panose="02020603050405020304" pitchFamily="18" charset="0"/>
                <a:cs typeface="Times New Roman" panose="02020603050405020304" pitchFamily="18" charset="0"/>
              </a:rPr>
              <a:t>Backend</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PHP </a:t>
            </a:r>
          </a:p>
          <a:p>
            <a:r>
              <a:rPr lang="en-IN" sz="3200" dirty="0">
                <a:latin typeface="Times New Roman" panose="02020603050405020304" pitchFamily="18" charset="0"/>
                <a:cs typeface="Times New Roman" panose="02020603050405020304" pitchFamily="18" charset="0"/>
              </a:rPr>
              <a:t>Database</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MySQL </a:t>
            </a:r>
          </a:p>
          <a:p>
            <a:r>
              <a:rPr lang="en-IN" sz="3200" dirty="0">
                <a:latin typeface="Times New Roman" panose="02020603050405020304" pitchFamily="18" charset="0"/>
                <a:cs typeface="Times New Roman" panose="02020603050405020304" pitchFamily="18" charset="0"/>
              </a:rPr>
              <a:t>Tools</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XAMPP Server, Visual Studio Code, GitHub .</a:t>
            </a:r>
          </a:p>
          <a:p>
            <a:r>
              <a:rPr lang="en-IN" sz="3200" b="1" dirty="0">
                <a:latin typeface="Times New Roman" panose="02020603050405020304" pitchFamily="18" charset="0"/>
                <a:cs typeface="Times New Roman" panose="02020603050405020304" pitchFamily="18" charset="0"/>
              </a:rPr>
              <a:t>Hardware/Software Requirements:</a:t>
            </a:r>
            <a:r>
              <a:rPr lang="en-IN" sz="3200" dirty="0">
                <a:latin typeface="Times New Roman" panose="02020603050405020304" pitchFamily="18" charset="0"/>
                <a:cs typeface="Times New Roman" panose="02020603050405020304" pitchFamily="18" charset="0"/>
              </a:rPr>
              <a:t> </a:t>
            </a:r>
          </a:p>
          <a:p>
            <a:r>
              <a:rPr lang="en-IN" sz="3200" dirty="0">
                <a:latin typeface="Times New Roman" panose="02020603050405020304" pitchFamily="18" charset="0"/>
                <a:cs typeface="Times New Roman" panose="02020603050405020304" pitchFamily="18" charset="0"/>
              </a:rPr>
              <a:t>Processor: Intel i3 or above </a:t>
            </a:r>
          </a:p>
          <a:p>
            <a:r>
              <a:rPr lang="en-IN" sz="3200" dirty="0">
                <a:latin typeface="Times New Roman" panose="02020603050405020304" pitchFamily="18" charset="0"/>
                <a:cs typeface="Times New Roman" panose="02020603050405020304" pitchFamily="18" charset="0"/>
              </a:rPr>
              <a:t>RAM: Minimum 4GB </a:t>
            </a:r>
          </a:p>
          <a:p>
            <a:r>
              <a:rPr lang="en-IN" sz="3200" dirty="0">
                <a:latin typeface="Times New Roman" panose="02020603050405020304" pitchFamily="18" charset="0"/>
                <a:cs typeface="Times New Roman" panose="02020603050405020304" pitchFamily="18" charset="0"/>
              </a:rPr>
              <a:t>Operating System: Windows 10/11 </a:t>
            </a:r>
          </a:p>
          <a:p>
            <a:r>
              <a:rPr lang="en-IN" sz="3200" dirty="0">
                <a:latin typeface="Times New Roman" panose="02020603050405020304" pitchFamily="18" charset="0"/>
                <a:cs typeface="Times New Roman" panose="02020603050405020304" pitchFamily="18" charset="0"/>
              </a:rPr>
              <a:t>Browser: Google Chrome / Microsoft Edge</a:t>
            </a:r>
          </a:p>
          <a:p>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140964"/>
          </a:xfrm>
          <a:prstGeom prst="rect">
            <a:avLst/>
          </a:prstGeom>
          <a:noFill/>
        </p:spPr>
        <p:txBody>
          <a:bodyPr wrap="square" rtlCol="0">
            <a:spAutoFit/>
          </a:bodyPr>
          <a:lstStyle/>
          <a:p>
            <a:endParaRPr lang="en-IN" sz="2800" b="1" dirty="0"/>
          </a:p>
          <a:p>
            <a:r>
              <a:rPr lang="en-IN" sz="2800" b="1" dirty="0">
                <a:solidFill>
                  <a:srgbClr val="FF0000"/>
                </a:solidFill>
              </a:rPr>
              <a:t>Module Overview – Subscription-Based Membership Engine with Tiered Logic</a:t>
            </a:r>
          </a:p>
          <a:p>
            <a:endParaRPr lang="en-IN" sz="2800" b="1" dirty="0"/>
          </a:p>
          <a:p>
            <a:r>
              <a:rPr lang="en-IN" sz="2800" b="1" dirty="0"/>
              <a:t>Module 1: User Authentication &amp; Registration</a:t>
            </a:r>
          </a:p>
          <a:p>
            <a:r>
              <a:rPr lang="en-IN" sz="2800" dirty="0"/>
              <a:t>Handles user sign-up, login, JWT-based authentication, and secure session management.</a:t>
            </a:r>
          </a:p>
          <a:p>
            <a:r>
              <a:rPr lang="en-IN" sz="2800" b="1" dirty="0"/>
              <a:t>Module 2: Subscription &amp; Tiered Plan Management</a:t>
            </a:r>
          </a:p>
          <a:p>
            <a:r>
              <a:rPr lang="en-IN" sz="2800" dirty="0"/>
              <a:t>Implements tiered logic engine for Basic, Standard, and Premium plans; handles upgrades, downgrades, and renewals.</a:t>
            </a:r>
          </a:p>
          <a:p>
            <a:r>
              <a:rPr lang="en-IN" sz="2800" b="1" dirty="0"/>
              <a:t>Module 3: Billing &amp; Payment Processing</a:t>
            </a:r>
          </a:p>
          <a:p>
            <a:r>
              <a:rPr lang="en-IN" sz="2800" dirty="0"/>
              <a:t>Automates billing cycles, generates invoices, and sends renewal/expiry notifications via email.</a:t>
            </a:r>
          </a:p>
          <a:p>
            <a:r>
              <a:rPr lang="en-IN" sz="2800" b="1" dirty="0"/>
              <a:t>Module 4: Admin Dashboard &amp; Analytics</a:t>
            </a:r>
          </a:p>
          <a:p>
            <a:r>
              <a:rPr lang="en-IN" sz="2800" dirty="0"/>
              <a:t>Provides admin panel to manage users, view subscription stats, revenue reports, and tier-wise analytics.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B408C80-0366-84B0-701E-267D89FFBE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151" y="1681935"/>
            <a:ext cx="17795183" cy="773538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055D57A-3129-521D-8BCD-84A27F6616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8596" y="1909311"/>
            <a:ext cx="12050807" cy="6468378"/>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2BBCA8B-5F10-BED7-15BB-56FD5AB3B3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 y="1485900"/>
            <a:ext cx="17578137" cy="84582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EBBBC79-99E0-D40A-AA5D-260D5AE3AA97}"/>
              </a:ext>
            </a:extLst>
          </p:cNvPr>
          <p:cNvPicPr>
            <a:picLocks noChangeAspect="1"/>
          </p:cNvPicPr>
          <p:nvPr/>
        </p:nvPicPr>
        <p:blipFill>
          <a:blip r:embed="rId4"/>
          <a:stretch>
            <a:fillRect/>
          </a:stretch>
        </p:blipFill>
        <p:spPr>
          <a:xfrm>
            <a:off x="3020799" y="1980926"/>
            <a:ext cx="12246401" cy="632514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81125E7F-D647-1E6B-BDF6-167595398C9D}"/>
              </a:ext>
            </a:extLst>
          </p:cNvPr>
          <p:cNvSpPr txBox="1"/>
          <p:nvPr/>
        </p:nvSpPr>
        <p:spPr>
          <a:xfrm>
            <a:off x="1521507" y="1883001"/>
            <a:ext cx="12727894" cy="5693866"/>
          </a:xfrm>
          <a:prstGeom prst="rect">
            <a:avLst/>
          </a:prstGeom>
          <a:noFill/>
        </p:spPr>
        <p:txBody>
          <a:bodyPr wrap="square">
            <a:spAutoFit/>
          </a:bodyPr>
          <a:lstStyle/>
          <a:p>
            <a:r>
              <a:rPr lang="en-US" sz="2800" b="1" dirty="0"/>
              <a:t>Advantages:</a:t>
            </a:r>
          </a:p>
          <a:p>
            <a:pPr marL="457200" indent="-457200">
              <a:buFontTx/>
              <a:buChar char="-"/>
            </a:pPr>
            <a:r>
              <a:rPr lang="en-US" sz="2800" dirty="0"/>
              <a:t>Fully automated subscription lifecycle — no manual intervention needed.</a:t>
            </a:r>
          </a:p>
          <a:p>
            <a:pPr marL="457200" indent="-457200">
              <a:buFontTx/>
              <a:buChar char="-"/>
            </a:pPr>
            <a:r>
              <a:rPr lang="en-US" sz="2800" dirty="0"/>
              <a:t>Tiered logic ensures users get only the features they have paid for.</a:t>
            </a:r>
          </a:p>
          <a:p>
            <a:pPr marL="457200" indent="-457200">
              <a:buFontTx/>
              <a:buChar char="-"/>
            </a:pPr>
            <a:r>
              <a:rPr lang="en-US" sz="2800" dirty="0"/>
              <a:t>Scalable architecture supports growing user base with minimal changes.</a:t>
            </a:r>
          </a:p>
          <a:p>
            <a:pPr marL="457200" indent="-457200">
              <a:buFontTx/>
              <a:buChar char="-"/>
            </a:pPr>
            <a:r>
              <a:rPr lang="en-US" sz="2800" dirty="0"/>
              <a:t>Real-time billing and instant access control improves user satisfaction.</a:t>
            </a:r>
          </a:p>
          <a:p>
            <a:pPr marL="457200" indent="-457200">
              <a:buFontTx/>
              <a:buChar char="-"/>
            </a:pPr>
            <a:r>
              <a:rPr lang="en-US" sz="2800" dirty="0"/>
              <a:t>Admin dashboard provides complete visibility into revenue and membership analytics.</a:t>
            </a:r>
          </a:p>
          <a:p>
            <a:endParaRPr lang="en-US" sz="2800" dirty="0"/>
          </a:p>
          <a:p>
            <a:r>
              <a:rPr lang="en-US" sz="2800" b="1" dirty="0"/>
              <a:t>Limitations:</a:t>
            </a:r>
          </a:p>
          <a:p>
            <a:pPr marL="457200" indent="-457200">
              <a:buFontTx/>
              <a:buChar char="-"/>
            </a:pPr>
            <a:r>
              <a:rPr lang="en-US" sz="2800" dirty="0"/>
              <a:t>Payment gateway integration is simulated; real-world payment APIs require additional setup.</a:t>
            </a:r>
          </a:p>
          <a:p>
            <a:pPr marL="457200" indent="-457200">
              <a:buFontTx/>
              <a:buChar char="-"/>
            </a:pPr>
            <a:r>
              <a:rPr lang="en-US" sz="2800" dirty="0"/>
              <a:t>No mobile app; currently accessible only via web browser.</a:t>
            </a:r>
          </a:p>
          <a:p>
            <a:pPr marL="457200" indent="-457200">
              <a:buFontTx/>
              <a:buChar char="-"/>
            </a:pPr>
            <a:r>
              <a:rPr lang="en-US" sz="2800" dirty="0"/>
              <a:t>Advanced fraud detection and dispute resolution not yet implemented.</a:t>
            </a: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806</Words>
  <Application>Microsoft Office PowerPoint</Application>
  <PresentationFormat>Custom</PresentationFormat>
  <Paragraphs>219</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Cambria</vt:lpstr>
      <vt:lpstr>Gotham Bold Italics</vt:lpstr>
      <vt:lpstr>Wingdings</vt:lpstr>
      <vt:lpstr>Arial</vt:lpstr>
      <vt:lpstr>Bookman Old Style</vt:lpstr>
      <vt:lpstr>Calibri</vt:lpstr>
      <vt:lpstr>Times New Roman</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ASUS</dc:creator>
  <cp:lastModifiedBy>vutukuri pavan kumar</cp:lastModifiedBy>
  <cp:revision>15</cp:revision>
  <dcterms:created xsi:type="dcterms:W3CDTF">2006-08-16T00:00:00Z</dcterms:created>
  <dcterms:modified xsi:type="dcterms:W3CDTF">2026-03-25T04:11:29Z</dcterms:modified>
  <dc:identifier>DAHCaYqJ9OU</dc:identifier>
</cp:coreProperties>
</file>